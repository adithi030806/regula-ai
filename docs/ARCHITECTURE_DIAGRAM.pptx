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defRPr sz="2500" b="1">
                <a:solidFill>
                  <a:srgbClr val="F5F8FC"/>
                </a:solidFill>
                <a:latin typeface="Aptos"/>
              </a:defRPr>
            </a:pPr>
            <a:r>
              <a:t>REGULA-AI |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defRPr sz="1100" b="0">
                <a:solidFill>
                  <a:srgbClr val="B8C7DB"/>
                </a:solidFill>
                <a:latin typeface="Aptos"/>
              </a:defRPr>
            </a:pPr>
            <a:r>
              <a:t>High-level view of the current React + FastAPI + Gemini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417320" cy="96012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5BA5FF"/>
                </a:solidFill>
                <a:latin typeface="Aptos Display"/>
              </a:defRPr>
            </a:pPr>
            <a:r>
              <a:t>USER</a:t>
            </a:r>
          </a:p>
          <a:p>
            <a:pPr algn="ctr">
              <a:spcBef>
                <a:spcPts val="400"/>
              </a:spcBef>
              <a:defRPr sz="1000">
                <a:solidFill>
                  <a:srgbClr val="F5F8FC"/>
                </a:solidFill>
                <a:latin typeface="Aptos"/>
              </a:defRPr>
            </a:pPr>
            <a:r>
              <a:t>Business owner / MSME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325880"/>
            <a:ext cx="2240280" cy="132588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27D6BE"/>
                </a:solidFill>
                <a:latin typeface="Aptos Display"/>
              </a:defRPr>
            </a:pPr>
            <a:r>
              <a:t>FRONTEND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5F8FC"/>
                </a:solidFill>
                <a:latin typeface="Aptos"/>
              </a:defRPr>
            </a:pPr>
            <a:r>
              <a:t>React + Vite</a:t>
            </a:r>
            <a:br/>
            <a:r>
              <a:t>Product input • Domain workflows</a:t>
            </a:r>
            <a:br/>
            <a:r>
              <a:t>Results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2011680" cy="132588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5BA5FF"/>
                </a:solidFill>
                <a:latin typeface="Aptos Display"/>
              </a:defRPr>
            </a:pPr>
            <a:r>
              <a:t>API LAYER</a:t>
            </a:r>
          </a:p>
          <a:p>
            <a:pPr algn="ctr">
              <a:spcBef>
                <a:spcPts val="400"/>
              </a:spcBef>
              <a:defRPr sz="1000">
                <a:solidFill>
                  <a:srgbClr val="F5F8FC"/>
                </a:solidFill>
                <a:latin typeface="Aptos"/>
              </a:defRPr>
            </a:pPr>
            <a:r>
              <a:t>HTTP + JSON</a:t>
            </a:r>
            <a:br/>
            <a:r>
              <a:t>CORS-enabled requests</a:t>
            </a:r>
            <a:br/>
            <a:r>
              <a:t>FastAPI on port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234440"/>
            <a:ext cx="2057400" cy="150876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27D6BE"/>
                </a:solidFill>
                <a:latin typeface="Aptos Display"/>
              </a:defRPr>
            </a:pPr>
            <a:r>
              <a:t>FASTAPI BACKEND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5F8FC"/>
                </a:solidFill>
                <a:latin typeface="Aptos"/>
              </a:defRPr>
            </a:pPr>
            <a:r>
              <a:t>Request validation</a:t>
            </a:r>
            <a:br/>
            <a:r>
              <a:t>Endpoint routing</a:t>
            </a:r>
            <a:br/>
            <a:r>
              <a:t>Response formatting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417320"/>
            <a:ext cx="1691640" cy="114300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FFC65C"/>
                </a:solidFill>
                <a:latin typeface="Aptos Display"/>
              </a:defRPr>
            </a:pPr>
            <a:r>
              <a:t>OUTPUT</a:t>
            </a:r>
          </a:p>
          <a:p>
            <a:pPr algn="ctr">
              <a:spcBef>
                <a:spcPts val="400"/>
              </a:spcBef>
              <a:defRPr sz="950">
                <a:solidFill>
                  <a:srgbClr val="F5F8FC"/>
                </a:solidFill>
                <a:latin typeface="Aptos"/>
              </a:defRPr>
            </a:pPr>
            <a:r>
              <a:t>Guidance • Checklist</a:t>
            </a:r>
            <a:br/>
            <a:r>
              <a:t>Market insights</a:t>
            </a:r>
            <a:br/>
            <a:r>
              <a:t>Financial estimates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1993392"/>
            <a:ext cx="411480" cy="0"/>
          </a:xfrm>
          <a:prstGeom prst="line">
            <a:avLst/>
          </a:prstGeom>
          <a:ln w="25400">
            <a:solidFill>
              <a:srgbClr val="5B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60" y="1993392"/>
            <a:ext cx="502920" cy="0"/>
          </a:xfrm>
          <a:prstGeom prst="line">
            <a:avLst/>
          </a:prstGeom>
          <a:ln w="25400">
            <a:solidFill>
              <a:srgbClr val="27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95160" y="1993392"/>
            <a:ext cx="502919" cy="0"/>
          </a:xfrm>
          <a:prstGeom prst="line">
            <a:avLst/>
          </a:prstGeom>
          <a:ln w="25400">
            <a:solidFill>
              <a:srgbClr val="5B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55480" y="1993392"/>
            <a:ext cx="502920" cy="0"/>
          </a:xfrm>
          <a:prstGeom prst="line">
            <a:avLst/>
          </a:prstGeom>
          <a:ln w="25400">
            <a:solidFill>
              <a:srgbClr val="27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62272" y="1719072"/>
            <a:ext cx="530352" cy="2011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defRPr sz="800" b="0">
                <a:solidFill>
                  <a:srgbClr val="B8C7DB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719072"/>
            <a:ext cx="566928" cy="2011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defRPr sz="800" b="0">
                <a:solidFill>
                  <a:srgbClr val="B8C7DB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11155680" cy="2743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BACKEND SERVICES /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337560" cy="914400"/>
          </a:xfrm>
          <a:prstGeom prst="roundRect">
            <a:avLst/>
          </a:prstGeom>
          <a:solidFill>
            <a:srgbClr val="16263E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00" b="1">
                <a:solidFill>
                  <a:srgbClr val="27D6BE"/>
                </a:solidFill>
                <a:latin typeface="Aptos Display"/>
              </a:defRPr>
            </a:pPr>
            <a:r>
              <a:t>POST /api/analyze-product</a:t>
            </a:r>
          </a:p>
          <a:p>
            <a:pPr algn="ctr">
              <a:spcBef>
                <a:spcPts val="400"/>
              </a:spcBef>
              <a:defRPr sz="950">
                <a:solidFill>
                  <a:srgbClr val="F5F8FC"/>
                </a:solidFill>
                <a:latin typeface="Aptos"/>
              </a:defRPr>
            </a:pPr>
            <a:r>
              <a:t>Product analysis + market/business 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74720"/>
            <a:ext cx="3337560" cy="914400"/>
          </a:xfrm>
          <a:prstGeom prst="roundRect">
            <a:avLst/>
          </a:prstGeom>
          <a:solidFill>
            <a:srgbClr val="16263E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00" b="1">
                <a:solidFill>
                  <a:srgbClr val="27D6BE"/>
                </a:solidFill>
                <a:latin typeface="Aptos Display"/>
              </a:defRPr>
            </a:pPr>
            <a:r>
              <a:t>POST /api/compliance-checklist</a:t>
            </a:r>
          </a:p>
          <a:p>
            <a:pPr algn="ctr">
              <a:spcBef>
                <a:spcPts val="400"/>
              </a:spcBef>
              <a:defRPr sz="950">
                <a:solidFill>
                  <a:srgbClr val="F5F8FC"/>
                </a:solidFill>
                <a:latin typeface="Aptos"/>
              </a:defRPr>
            </a:pPr>
            <a:r>
              <a:t>Preliminary checklist + information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3474720"/>
            <a:ext cx="3337560" cy="914400"/>
          </a:xfrm>
          <a:prstGeom prst="roundRect">
            <a:avLst/>
          </a:prstGeom>
          <a:solidFill>
            <a:srgbClr val="16263E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00" b="1">
                <a:solidFill>
                  <a:srgbClr val="FFC65C"/>
                </a:solidFill>
                <a:latin typeface="Aptos Display"/>
              </a:defRPr>
            </a:pPr>
            <a:r>
              <a:t>POST /api/financial-scenario</a:t>
            </a:r>
          </a:p>
          <a:p>
            <a:pPr algn="ctr">
              <a:spcBef>
                <a:spcPts val="400"/>
              </a:spcBef>
              <a:defRPr sz="950">
                <a:solidFill>
                  <a:srgbClr val="F5F8FC"/>
                </a:solidFill>
                <a:latin typeface="Aptos"/>
              </a:defRPr>
            </a:pPr>
            <a:r>
              <a:t>Revenue, operating profit, break-even estimates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377440" y="2743200"/>
            <a:ext cx="6126480" cy="731520"/>
          </a:xfrm>
          <a:prstGeom prst="line">
            <a:avLst/>
          </a:prstGeom>
          <a:ln w="19050">
            <a:solidFill>
              <a:srgbClr val="27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126480" y="2743200"/>
            <a:ext cx="2377440" cy="731520"/>
          </a:xfrm>
          <a:prstGeom prst="line">
            <a:avLst/>
          </a:prstGeom>
          <a:ln w="19050">
            <a:solidFill>
              <a:srgbClr val="27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2743200"/>
            <a:ext cx="1371600" cy="731520"/>
          </a:xfrm>
          <a:prstGeom prst="line">
            <a:avLst/>
          </a:prstGeom>
          <a:ln w="19050">
            <a:solidFill>
              <a:srgbClr val="FF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4663440"/>
            <a:ext cx="11155680" cy="2743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SUPPORTING 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074920"/>
            <a:ext cx="3200400" cy="86868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00" b="1">
                <a:solidFill>
                  <a:srgbClr val="5BA5FF"/>
                </a:solidFill>
                <a:latin typeface="Aptos Display"/>
              </a:defRPr>
            </a:pPr>
            <a:r>
              <a:t>BIS KNOWLEDGE BASE</a:t>
            </a:r>
          </a:p>
          <a:p>
            <a:pPr algn="ctr">
              <a:spcBef>
                <a:spcPts val="400"/>
              </a:spcBef>
              <a:defRPr sz="900">
                <a:solidFill>
                  <a:srgbClr val="F5F8FC"/>
                </a:solidFill>
                <a:latin typeface="Aptos"/>
              </a:defRPr>
            </a:pPr>
            <a:r>
              <a:t>Curated standard references and source links</a:t>
            </a:r>
            <a:br/>
            <a:r>
              <a:t>Used to ground preliminary compliance guidance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5074920"/>
            <a:ext cx="3200400" cy="86868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00" b="1">
                <a:solidFill>
                  <a:srgbClr val="27D6BE"/>
                </a:solidFill>
                <a:latin typeface="Aptos Display"/>
              </a:defRPr>
            </a:pPr>
            <a:r>
              <a:t>GEMINI API</a:t>
            </a:r>
          </a:p>
          <a:p>
            <a:pPr algn="ctr">
              <a:spcBef>
                <a:spcPts val="400"/>
              </a:spcBef>
              <a:defRPr sz="900">
                <a:solidFill>
                  <a:srgbClr val="F5F8FC"/>
                </a:solidFill>
                <a:latin typeface="Aptos"/>
              </a:defRPr>
            </a:pPr>
            <a:r>
              <a:t>AI-generated analysis and recommendations</a:t>
            </a:r>
            <a:br/>
            <a:r>
              <a:t>Requires server-side API 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5074920"/>
            <a:ext cx="3200400" cy="868680"/>
          </a:xfrm>
          <a:prstGeom prst="roundRect">
            <a:avLst/>
          </a:prstGeom>
          <a:solidFill>
            <a:srgbClr val="1B304A"/>
          </a:solidFill>
          <a:ln w="15240">
            <a:solidFill>
              <a:srgbClr val="405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00" b="1">
                <a:solidFill>
                  <a:srgbClr val="FFC65C"/>
                </a:solidFill>
                <a:latin typeface="Aptos Display"/>
              </a:defRPr>
            </a:pPr>
            <a:r>
              <a:t>FINANCIAL CALCULATION LOGIC</a:t>
            </a:r>
          </a:p>
          <a:p>
            <a:pPr algn="ctr">
              <a:spcBef>
                <a:spcPts val="400"/>
              </a:spcBef>
              <a:defRPr sz="900">
                <a:solidFill>
                  <a:srgbClr val="F5F8FC"/>
                </a:solidFill>
                <a:latin typeface="Aptos"/>
              </a:defRPr>
            </a:pPr>
            <a:r>
              <a:t>Calculates estimates from user-entered assumptions</a:t>
            </a:r>
            <a:br/>
            <a:r>
              <a:t>Not a prediction or profit guarantee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1720" y="4389120"/>
            <a:ext cx="0" cy="685800"/>
          </a:xfrm>
          <a:prstGeom prst="line">
            <a:avLst/>
          </a:prstGeom>
          <a:ln w="19050">
            <a:solidFill>
              <a:srgbClr val="5B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74720" y="4389120"/>
            <a:ext cx="2011680" cy="685800"/>
          </a:xfrm>
          <a:prstGeom prst="line">
            <a:avLst/>
          </a:prstGeom>
          <a:ln w="19050">
            <a:solidFill>
              <a:srgbClr val="27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080760" y="4389120"/>
            <a:ext cx="45720" cy="685800"/>
          </a:xfrm>
          <a:prstGeom prst="line">
            <a:avLst/>
          </a:prstGeom>
          <a:ln w="19050">
            <a:solidFill>
              <a:srgbClr val="27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784080" y="4389120"/>
            <a:ext cx="91440" cy="685800"/>
          </a:xfrm>
          <a:prstGeom prst="line">
            <a:avLst/>
          </a:prstGeom>
          <a:ln w="19050">
            <a:solidFill>
              <a:srgbClr val="FF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" y="6236208"/>
            <a:ext cx="10972800" cy="2926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defRPr sz="900" b="0">
                <a:solidFill>
                  <a:srgbClr val="B8C7DB"/>
                </a:solidFill>
                <a:latin typeface="Aptos"/>
              </a:defRPr>
            </a:pPr>
            <a:r>
              <a:t>Trust boundary: keep GEMINI_API_KEY on the backend. AI guidance is preliminary; confirm applicable BIS requirements with official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